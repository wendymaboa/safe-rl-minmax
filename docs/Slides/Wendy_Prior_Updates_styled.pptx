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charts/chart2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74" r:id="rId2"/>
    <p:sldId id="266" r:id="rId3"/>
    <p:sldId id="267" r:id="rId4"/>
    <p:sldId id="268" r:id="rId5"/>
    <p:sldId id="269" r:id="rId6"/>
    <p:sldId id="270" r:id="rId7"/>
    <p:sldId id="271" r:id="rId8"/>
    <p:sldId id="272" r:id="rId9"/>
    <p:sldId id="273" r:id="rId10"/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8" d="100"/>
          <a:sy n="158" d="100"/>
        </p:scale>
        <p:origin x="11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761"/>
                </a:solidFill>
                <a:latin typeface="Arial"/>
              </a:defRPr>
            </a:pPr>
            <a:r>
              <a:rPr lang="en-US" sz="1400" b="0" i="0" u="none" strike="noStrike">
                <a:solidFill>
                  <a:srgbClr val="1E2761"/>
                </a:solidFill>
                <a:latin typeface="Arial"/>
              </a:rPr>
              <a:t>BeaverTails-Evaluation overall harm rate (700 prompts)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Harm rate (%)</c:v>
                </c:pt>
              </c:strCache>
            </c:strRef>
          </c:tx>
          <c:spPr>
            <a:solidFill>
              <a:srgbClr val="5B7FB9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AE5-4F2E-A8F9-EB9A3597E987}"/>
              </c:ext>
            </c:extLst>
          </c:dPt>
          <c:dPt>
            <c:idx val="1"/>
            <c:invertIfNegative val="0"/>
            <c:bubble3D val="0"/>
            <c:spPr>
              <a:solidFill>
                <a:srgbClr val="F299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AE5-4F2E-A8F9-EB9A3597E987}"/>
              </c:ext>
            </c:extLst>
          </c:dPt>
          <c:dLbls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PPO + KL
(baseline)</c:v>
                </c:pt>
                <c:pt idx="1">
                  <c:v>PPO + Minmax
(Algorithm 1)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17.29</c:v>
                </c:pt>
                <c:pt idx="1">
                  <c:v>7.14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AE5-4F2E-A8F9-EB9A3597E98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ZA" b="0" i="0" u="none" strike="noStrike">
                    <a:solidFill>
                      <a:srgbClr val="000000"/>
                    </a:solidFill>
                    <a:latin typeface="Arial"/>
                  </a:rPr>
                  <a:t>Harm rate (%)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E2761"/>
                </a:solidFill>
                <a:latin typeface="Arial"/>
              </a:rPr>
              <a:t>BeaverTails-Evaluation overall harm rate (700 prompts)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Harm rate (%)</c:v>
                </c:pt>
              </c:strCache>
            </c:strRef>
          </c:tx>
          <c:spPr>
            <a:solidFill>
              <a:srgbClr val="5B7FB9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999-435A-893A-46DD7E15531F}"/>
              </c:ext>
            </c:extLst>
          </c:dPt>
          <c:dPt>
            <c:idx val="1"/>
            <c:invertIfNegative val="0"/>
            <c:bubble3D val="0"/>
            <c:spPr>
              <a:solidFill>
                <a:srgbClr val="F299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999-435A-893A-46DD7E15531F}"/>
              </c:ext>
            </c:extLst>
          </c:dPt>
          <c:dLbls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PPO + KL
(baseline)</c:v>
                </c:pt>
                <c:pt idx="1">
                  <c:v>PPO + Minmax
(Algorithm 1)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16.43</c:v>
                </c:pt>
                <c:pt idx="1">
                  <c:v>17.29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999-435A-893A-46DD7E15531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ZA" b="0" i="0" u="none" strike="noStrike">
                    <a:solidFill>
                      <a:srgbClr val="000000"/>
                    </a:solidFill>
                    <a:latin typeface="Arial"/>
                  </a:rPr>
                  <a:t>Harm rate (%)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7639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6528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2062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1688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2992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7539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1802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2756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this as the central question of the proposal: can the Minmax penalty, derived purely from the agent's own value function, substitute for KL penalties and learned cost models? Mention BeaverTails-Evaluation is the same split used by Safe RLHF and HC-RLHF, enabling direct 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quickly — green rows are complete, red rows are blocked by infrastructure, not by the algorithm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exists so the limitations later make sense — the GPT-2 numbers come from a lightweight TRL+Detoxify pipeline, not the full Safe RLHF reference stack.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strongest evidence so far. Same 700-prompt BeaverTails-Evaluation split used by Safe RLHF and HC-RLHF papers — gives a directly comparable benchmark.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as 'longer training needs tuning' — not as evidence the mechanism fails. V_MIN/V_MAX bounds accumulate globally across training and never reset, so as the policy explores further the bounds can widen quickly; without further tuning this destabilises the PPO ratio at longer horizons.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Optional detail slide — keep brief. Use to show category-level granularity is available even though the topline 1000-step number was unfavourable.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Important framing slide — be direct that the 500-step result is feasibility evidence, not a confirmed finding. The 1000-step instability and incomplete Qwen/Gemma runs define the scope of what's left to 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infrastructure constraints, not algorithmic problems — important to separate from the 1000-step instability finding on slide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Folders with failed/incomplete runs for reference (not for slide): gemma-2b_1000steps (DeepSpeed error in stderr), Qwen1.5-1.8B_1000steps (partial logs only).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F011F44-0429-0E8C-8428-89188D51C185}"/>
              </a:ext>
            </a:extLst>
          </p:cNvPr>
          <p:cNvSpPr/>
          <p:nvPr/>
        </p:nvSpPr>
        <p:spPr>
          <a:xfrm>
            <a:off x="508000" y="1016000"/>
            <a:ext cx="914400" cy="127000"/>
          </a:xfrm>
          <a:prstGeom prst="roundRect">
            <a:avLst/>
          </a:prstGeom>
          <a:solidFill>
            <a:srgbClr val="8C775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419B9E-F616-5EF0-0804-7B1BC685E00A}"/>
              </a:ext>
            </a:extLst>
          </p:cNvPr>
          <p:cNvSpPr txBox="1"/>
          <p:nvPr/>
        </p:nvSpPr>
        <p:spPr>
          <a:xfrm>
            <a:off x="508000" y="12700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ZA" sz="1200" b="1">
                <a:solidFill>
                  <a:srgbClr val="6B5A3D"/>
                </a:solidFill>
                <a:latin typeface="Plus Jakarta Sans"/>
              </a:rPr>
              <a:t>PRIOR UPDATE  ·  APRIL 2026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71B3C2-7241-3611-A48C-381BF65BCC33}"/>
              </a:ext>
            </a:extLst>
          </p:cNvPr>
          <p:cNvSpPr txBox="1"/>
          <p:nvPr/>
        </p:nvSpPr>
        <p:spPr>
          <a:xfrm>
            <a:off x="508000" y="1778000"/>
            <a:ext cx="11176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ZA" sz="3600" b="1">
                <a:solidFill>
                  <a:srgbClr val="331B0D"/>
                </a:solidFill>
                <a:latin typeface="Plus Jakarta Sans"/>
              </a:rPr>
              <a:t>Midterm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96C69F-E251-960B-A040-C372AD3C6AC1}"/>
              </a:ext>
            </a:extLst>
          </p:cNvPr>
          <p:cNvSpPr txBox="1"/>
          <p:nvPr/>
        </p:nvSpPr>
        <p:spPr>
          <a:xfrm>
            <a:off x="508000" y="2921000"/>
            <a:ext cx="11176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>
                <a:solidFill>
                  <a:srgbClr val="5E4630"/>
                </a:solidFill>
                <a:latin typeface="Plus Jakarta Sans"/>
              </a:rPr>
              <a:t>Proposal framing and the first pilot number — kept for the record.</a:t>
            </a:r>
            <a:endParaRPr lang="en-ZA" sz="1400">
              <a:solidFill>
                <a:srgbClr val="5E4630"/>
              </a:solidFill>
              <a:latin typeface="Plus Jakarta Sans"/>
            </a:endParaRPr>
          </a:p>
        </p:txBody>
      </p:sp>
    </p:spTree>
    <p:extLst>
      <p:ext uri="{BB962C8B-B14F-4D97-AF65-F5344CB8AC3E}">
        <p14:creationId xmlns:p14="http://schemas.microsoft.com/office/powerpoint/2010/main" val="16035193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ZA" sz="2400"/>
          </a:p>
        </p:txBody>
      </p:sp>
      <p:sp>
        <p:nvSpPr>
          <p:cNvPr id="3" name="Shape 1"/>
          <p:cNvSpPr/>
          <p:nvPr/>
        </p:nvSpPr>
        <p:spPr>
          <a:xfrm>
            <a:off x="0" y="5730240"/>
            <a:ext cx="12192000" cy="11277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ZA" sz="2400"/>
          </a:p>
        </p:txBody>
      </p:sp>
      <p:sp>
        <p:nvSpPr>
          <p:cNvPr id="4" name="Text 2"/>
          <p:cNvSpPr/>
          <p:nvPr/>
        </p:nvSpPr>
        <p:spPr>
          <a:xfrm>
            <a:off x="609600" y="1219200"/>
            <a:ext cx="10972800" cy="2316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5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Reinforcement Learning</a:t>
            </a:r>
            <a:endParaRPr lang="en-US" sz="4533" dirty="0"/>
          </a:p>
          <a:p>
            <a:r>
              <a:rPr lang="en-US" sz="45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Large Language Models</a:t>
            </a:r>
            <a:endParaRPr lang="en-US" sz="4533" dirty="0"/>
          </a:p>
        </p:txBody>
      </p:sp>
      <p:sp>
        <p:nvSpPr>
          <p:cNvPr id="5" name="Text 3"/>
          <p:cNvSpPr/>
          <p:nvPr/>
        </p:nvSpPr>
        <p:spPr>
          <a:xfrm>
            <a:off x="609600" y="3474720"/>
            <a:ext cx="10972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i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 hand-tuned KL penalties with a learned Value-Range safety signal</a:t>
            </a:r>
            <a:endParaRPr lang="en-US" sz="2133" dirty="0"/>
          </a:p>
        </p:txBody>
      </p:sp>
      <p:sp>
        <p:nvSpPr>
          <p:cNvPr id="6" name="Text 4"/>
          <p:cNvSpPr/>
          <p:nvPr/>
        </p:nvSpPr>
        <p:spPr>
          <a:xfrm>
            <a:off x="609600" y="5827776"/>
            <a:ext cx="1121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Midterm Progress Presentation  ·  </a:t>
            </a:r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Wendy Maboa</a:t>
            </a:r>
            <a:endParaRPr lang="en-US" sz="1333" dirty="0"/>
          </a:p>
        </p:txBody>
      </p:sp>
    </p:spTree>
    <p:extLst>
      <p:ext uri="{BB962C8B-B14F-4D97-AF65-F5344CB8AC3E}">
        <p14:creationId xmlns:p14="http://schemas.microsoft.com/office/powerpoint/2010/main" val="37804953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ZA" sz="2400"/>
          </a:p>
        </p:txBody>
      </p:sp>
      <p:sp>
        <p:nvSpPr>
          <p:cNvPr id="3" name="Text 1"/>
          <p:cNvSpPr/>
          <p:nvPr/>
        </p:nvSpPr>
        <p:spPr>
          <a:xfrm>
            <a:off x="268224" y="6364224"/>
            <a:ext cx="1158240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7" kern="0" spc="267" dirty="0">
                <a:solidFill>
                  <a:srgbClr val="8FA8C8"/>
                </a:solidFill>
              </a:rPr>
              <a:t>1 · INTRODUCTION &amp; BACKGROUND</a:t>
            </a:r>
            <a:endParaRPr lang="en-US" sz="1067" dirty="0"/>
          </a:p>
        </p:txBody>
      </p:sp>
      <p:sp>
        <p:nvSpPr>
          <p:cNvPr id="4" name="Text 2"/>
          <p:cNvSpPr/>
          <p:nvPr/>
        </p:nvSpPr>
        <p:spPr>
          <a:xfrm>
            <a:off x="390144" y="341376"/>
            <a:ext cx="1146048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safety in LLM fine-tuning is hard</a:t>
            </a:r>
            <a:endParaRPr lang="en-US" sz="3467" dirty="0"/>
          </a:p>
        </p:txBody>
      </p:sp>
      <p:sp>
        <p:nvSpPr>
          <p:cNvPr id="5" name="Text 3"/>
          <p:cNvSpPr/>
          <p:nvPr/>
        </p:nvSpPr>
        <p:spPr>
          <a:xfrm>
            <a:off x="390144" y="1072896"/>
            <a:ext cx="1146048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with current penalty design</a:t>
            </a:r>
            <a:endParaRPr lang="en-US" sz="1733" dirty="0"/>
          </a:p>
        </p:txBody>
      </p:sp>
      <p:sp>
        <p:nvSpPr>
          <p:cNvPr id="6" name="Shape 4"/>
          <p:cNvSpPr/>
          <p:nvPr/>
        </p:nvSpPr>
        <p:spPr>
          <a:xfrm>
            <a:off x="390144" y="1645920"/>
            <a:ext cx="365760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ZA" sz="2400"/>
          </a:p>
        </p:txBody>
      </p:sp>
      <p:sp>
        <p:nvSpPr>
          <p:cNvPr id="7" name="Shape 5"/>
          <p:cNvSpPr/>
          <p:nvPr/>
        </p:nvSpPr>
        <p:spPr>
          <a:xfrm>
            <a:off x="390144" y="1645920"/>
            <a:ext cx="3657600" cy="97536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ZA" sz="2400"/>
          </a:p>
        </p:txBody>
      </p:sp>
      <p:sp>
        <p:nvSpPr>
          <p:cNvPr id="8" name="Text 6"/>
          <p:cNvSpPr/>
          <p:nvPr/>
        </p:nvSpPr>
        <p:spPr>
          <a:xfrm>
            <a:off x="573024" y="1828800"/>
            <a:ext cx="329184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hacking</a:t>
            </a:r>
            <a:endParaRPr lang="en-US" sz="1733" dirty="0"/>
          </a:p>
        </p:txBody>
      </p:sp>
      <p:sp>
        <p:nvSpPr>
          <p:cNvPr id="9" name="Text 7"/>
          <p:cNvSpPr/>
          <p:nvPr/>
        </p:nvSpPr>
        <p:spPr>
          <a:xfrm>
            <a:off x="573024" y="2377440"/>
            <a:ext cx="32918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maximises any given reward signal — without principled safety constraints, the model exploits loopholes in helpfulness objectives.</a:t>
            </a:r>
            <a:endParaRPr lang="en-US" sz="1467" dirty="0"/>
          </a:p>
        </p:txBody>
      </p:sp>
      <p:sp>
        <p:nvSpPr>
          <p:cNvPr id="10" name="Shape 8"/>
          <p:cNvSpPr/>
          <p:nvPr/>
        </p:nvSpPr>
        <p:spPr>
          <a:xfrm>
            <a:off x="4267200" y="1645920"/>
            <a:ext cx="365760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ZA" sz="2400"/>
          </a:p>
        </p:txBody>
      </p:sp>
      <p:sp>
        <p:nvSpPr>
          <p:cNvPr id="11" name="Shape 9"/>
          <p:cNvSpPr/>
          <p:nvPr/>
        </p:nvSpPr>
        <p:spPr>
          <a:xfrm>
            <a:off x="4267200" y="1645920"/>
            <a:ext cx="3657600" cy="97536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ZA" sz="2400"/>
          </a:p>
        </p:txBody>
      </p:sp>
      <p:sp>
        <p:nvSpPr>
          <p:cNvPr id="12" name="Text 10"/>
          <p:cNvSpPr/>
          <p:nvPr/>
        </p:nvSpPr>
        <p:spPr>
          <a:xfrm>
            <a:off x="4450080" y="1828800"/>
            <a:ext cx="329184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 divergence limits</a:t>
            </a:r>
            <a:endParaRPr lang="en-US" sz="1733" dirty="0"/>
          </a:p>
        </p:txBody>
      </p:sp>
      <p:sp>
        <p:nvSpPr>
          <p:cNvPr id="13" name="Text 11"/>
          <p:cNvSpPr/>
          <p:nvPr/>
        </p:nvSpPr>
        <p:spPr>
          <a:xfrm>
            <a:off x="4450080" y="2377440"/>
            <a:ext cx="32918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RLHF uses a hand-tuned KL penalty to keep the policy near the reference model. This is a proxy for safety, not a principled unsafe-state penalty.</a:t>
            </a:r>
            <a:endParaRPr lang="en-US" sz="1467" dirty="0"/>
          </a:p>
        </p:txBody>
      </p:sp>
      <p:sp>
        <p:nvSpPr>
          <p:cNvPr id="14" name="Shape 12"/>
          <p:cNvSpPr/>
          <p:nvPr/>
        </p:nvSpPr>
        <p:spPr>
          <a:xfrm>
            <a:off x="8144256" y="1645920"/>
            <a:ext cx="365760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ZA" sz="2400"/>
          </a:p>
        </p:txBody>
      </p:sp>
      <p:sp>
        <p:nvSpPr>
          <p:cNvPr id="15" name="Shape 13"/>
          <p:cNvSpPr/>
          <p:nvPr/>
        </p:nvSpPr>
        <p:spPr>
          <a:xfrm>
            <a:off x="8144256" y="1645920"/>
            <a:ext cx="3657600" cy="97536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ZA" sz="2400"/>
          </a:p>
        </p:txBody>
      </p:sp>
      <p:sp>
        <p:nvSpPr>
          <p:cNvPr id="16" name="Text 14"/>
          <p:cNvSpPr/>
          <p:nvPr/>
        </p:nvSpPr>
        <p:spPr>
          <a:xfrm>
            <a:off x="8327136" y="1828800"/>
            <a:ext cx="329184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tuning burden</a:t>
            </a:r>
            <a:endParaRPr lang="en-US" sz="1733" dirty="0"/>
          </a:p>
        </p:txBody>
      </p:sp>
      <p:sp>
        <p:nvSpPr>
          <p:cNvPr id="17" name="Text 15"/>
          <p:cNvSpPr/>
          <p:nvPr/>
        </p:nvSpPr>
        <p:spPr>
          <a:xfrm>
            <a:off x="8327136" y="2377440"/>
            <a:ext cx="32918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task or safety criterion requires human engineers to re-tune penalty weights — defeating the goal of autonomous, general alignment.</a:t>
            </a:r>
            <a:endParaRPr lang="en-US" sz="1467" dirty="0"/>
          </a:p>
        </p:txBody>
      </p:sp>
      <p:sp>
        <p:nvSpPr>
          <p:cNvPr id="18" name="Shape 16"/>
          <p:cNvSpPr/>
          <p:nvPr/>
        </p:nvSpPr>
        <p:spPr>
          <a:xfrm>
            <a:off x="390144" y="5547360"/>
            <a:ext cx="11411712" cy="950976"/>
          </a:xfrm>
          <a:prstGeom prst="rect">
            <a:avLst/>
          </a:prstGeom>
          <a:solidFill>
            <a:srgbClr val="FFF8EE"/>
          </a:solidFill>
          <a:ln w="6350">
            <a:solidFill>
              <a:srgbClr val="DDE6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ZA" sz="2400"/>
          </a:p>
        </p:txBody>
      </p:sp>
      <p:sp>
        <p:nvSpPr>
          <p:cNvPr id="19" name="Shape 17"/>
          <p:cNvSpPr/>
          <p:nvPr/>
        </p:nvSpPr>
        <p:spPr>
          <a:xfrm>
            <a:off x="390144" y="5547360"/>
            <a:ext cx="73152" cy="9509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ZA" sz="2400"/>
          </a:p>
        </p:txBody>
      </p:sp>
      <p:sp>
        <p:nvSpPr>
          <p:cNvPr id="20" name="Text 18"/>
          <p:cNvSpPr/>
          <p:nvPr/>
        </p:nvSpPr>
        <p:spPr>
          <a:xfrm>
            <a:off x="633984" y="5608320"/>
            <a:ext cx="10972800" cy="829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i="1" dirty="0">
                <a:solidFill>
                  <a:srgbClr val="7C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question: Can we automatically learn a principled unsafe-state penalty from the agent's own value estimates — eliminating manual tuning while improving safety?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6979595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3" name="Text 1"/>
          <p:cNvSpPr/>
          <p:nvPr/>
        </p:nvSpPr>
        <p:spPr>
          <a:xfrm>
            <a:off x="268224" y="6364224"/>
            <a:ext cx="1158240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7" kern="0" spc="267" dirty="0">
                <a:solidFill>
                  <a:srgbClr val="8FA8C8"/>
                </a:solidFill>
              </a:rPr>
              <a:t>2 · RELATED WORK</a:t>
            </a:r>
            <a:endParaRPr lang="en-US" sz="1067" dirty="0"/>
          </a:p>
        </p:txBody>
      </p:sp>
      <p:sp>
        <p:nvSpPr>
          <p:cNvPr id="4" name="Text 2"/>
          <p:cNvSpPr/>
          <p:nvPr/>
        </p:nvSpPr>
        <p:spPr>
          <a:xfrm>
            <a:off x="390144" y="341376"/>
            <a:ext cx="1146048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exists — and what gap this project addresses</a:t>
            </a:r>
            <a:endParaRPr lang="en-US" sz="3467" dirty="0"/>
          </a:p>
        </p:txBody>
      </p:sp>
      <p:sp>
        <p:nvSpPr>
          <p:cNvPr id="5" name="Shape 3"/>
          <p:cNvSpPr/>
          <p:nvPr/>
        </p:nvSpPr>
        <p:spPr>
          <a:xfrm>
            <a:off x="390144" y="1584960"/>
            <a:ext cx="5547360" cy="463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sz="2400"/>
          </a:p>
        </p:txBody>
      </p:sp>
      <p:sp>
        <p:nvSpPr>
          <p:cNvPr id="6" name="Shape 4"/>
          <p:cNvSpPr/>
          <p:nvPr/>
        </p:nvSpPr>
        <p:spPr>
          <a:xfrm>
            <a:off x="390144" y="1584960"/>
            <a:ext cx="5547360" cy="85344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7" name="Text 5"/>
          <p:cNvSpPr/>
          <p:nvPr/>
        </p:nvSpPr>
        <p:spPr>
          <a:xfrm>
            <a:off x="536448" y="1670304"/>
            <a:ext cx="512064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 by prior work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6448" y="2218944"/>
            <a:ext cx="524256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RLHF with PPO + KL penalty (InstructGPT, Anthropic HH)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36448" y="2889504"/>
            <a:ext cx="524256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RLHF — separate reward &amp; cost models, Lagrangian optimisation (Dai et al. 2023)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36448" y="3560064"/>
            <a:ext cx="524256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TRL/HuggingFace: GPT-2 detoxification with PPO + verifiable reward (RealToxicityPrompts)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6448" y="4230624"/>
            <a:ext cx="524256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Celia et al.: supervised hallucination detection in LLM activations (NeurIPS SoLaR 2023)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6448" y="4901184"/>
            <a:ext cx="524256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Value-Range penalty in control tasks (Nangue Tasse et al., RLC 2026 under review)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42304" y="1584960"/>
            <a:ext cx="5559552" cy="4632960"/>
          </a:xfrm>
          <a:prstGeom prst="rect">
            <a:avLst/>
          </a:prstGeom>
          <a:solidFill>
            <a:srgbClr val="F0F9FF"/>
          </a:solidFill>
          <a:ln w="6350">
            <a:solidFill>
              <a:srgbClr val="DDE6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sz="2400"/>
          </a:p>
        </p:txBody>
      </p:sp>
      <p:sp>
        <p:nvSpPr>
          <p:cNvPr id="14" name="Shape 12"/>
          <p:cNvSpPr/>
          <p:nvPr/>
        </p:nvSpPr>
        <p:spPr>
          <a:xfrm>
            <a:off x="6242304" y="1584960"/>
            <a:ext cx="5559552" cy="85344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15" name="Text 13"/>
          <p:cNvSpPr/>
          <p:nvPr/>
        </p:nvSpPr>
        <p:spPr>
          <a:xfrm>
            <a:off x="6388608" y="1670304"/>
            <a:ext cx="512064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gap — this project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88608" y="2218944"/>
            <a:ext cx="524256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400" dirty="0">
                <a:solidFill>
                  <a:srgbClr val="0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Minmax penalty tested only in robotics/control — never applied to LLM token generation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88608" y="3048000"/>
            <a:ext cx="524256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400" dirty="0">
                <a:solidFill>
                  <a:srgbClr val="0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work replaces KL divergence with a learned unsafe-state penalty in RLHF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88608" y="3877056"/>
            <a:ext cx="524256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400" dirty="0">
                <a:solidFill>
                  <a:srgbClr val="0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Celia et al. detect hallucinations in activations but ask: can activations steer generation? RL penalty design is one answer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88608" y="4706112"/>
            <a:ext cx="524256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400" dirty="0">
                <a:solidFill>
                  <a:srgbClr val="0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Output-level classifiers (Detoxify) as unsafe-state detectors for Algorithm 1 — untested in LLMs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90144" y="6437376"/>
            <a:ext cx="11411712" cy="182880"/>
          </a:xfrm>
          <a:prstGeom prst="rect">
            <a:avLst/>
          </a:prstGeom>
          <a:solidFill>
            <a:srgbClr val="E0F2F1"/>
          </a:solidFill>
          <a:ln w="6350">
            <a:solidFill>
              <a:srgbClr val="DDE6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0781321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3" name="Text 1"/>
          <p:cNvSpPr/>
          <p:nvPr/>
        </p:nvSpPr>
        <p:spPr>
          <a:xfrm>
            <a:off x="390144" y="365760"/>
            <a:ext cx="1146048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kern="0" spc="267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RESEARCH QUESTION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09600" y="1036320"/>
            <a:ext cx="10972800" cy="2682240"/>
          </a:xfrm>
          <a:prstGeom prst="rect">
            <a:avLst/>
          </a:prstGeom>
          <a:solidFill>
            <a:srgbClr val="1B3A5C">
              <a:alpha val="70000"/>
            </a:srgbClr>
          </a:solidFill>
          <a:ln w="12700">
            <a:solidFill>
              <a:srgbClr val="0E9A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sz="2400"/>
          </a:p>
        </p:txBody>
      </p:sp>
      <p:sp>
        <p:nvSpPr>
          <p:cNvPr id="5" name="Text 3"/>
          <p:cNvSpPr/>
          <p:nvPr/>
        </p:nvSpPr>
        <p:spPr>
          <a:xfrm>
            <a:off x="853440" y="1158240"/>
            <a:ext cx="10485120" cy="2438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533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the Minmax penalty (</a:t>
            </a:r>
            <a:r>
              <a:rPr lang="en-US" sz="2533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R_unsafe</a:t>
            </a:r>
            <a:r>
              <a:rPr lang="en-US" sz="2533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V_MIN − V_MAX) from ROSARL replace hand-tuned KL divergence as the safety mechanism in PPO-based LLM fine-tuning — using verifiable rewards to detect unsafe outputs?</a:t>
            </a:r>
            <a:endParaRPr lang="en-US" sz="2533" dirty="0"/>
          </a:p>
        </p:txBody>
      </p:sp>
      <p:sp>
        <p:nvSpPr>
          <p:cNvPr id="6" name="Shape 4"/>
          <p:cNvSpPr/>
          <p:nvPr/>
        </p:nvSpPr>
        <p:spPr>
          <a:xfrm>
            <a:off x="609600" y="4023360"/>
            <a:ext cx="670560" cy="54864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7" name="Text 5"/>
          <p:cNvSpPr/>
          <p:nvPr/>
        </p:nvSpPr>
        <p:spPr>
          <a:xfrm>
            <a:off x="609600" y="4023360"/>
            <a:ext cx="67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1467" dirty="0"/>
          </a:p>
        </p:txBody>
      </p:sp>
      <p:sp>
        <p:nvSpPr>
          <p:cNvPr id="8" name="Text 6"/>
          <p:cNvSpPr/>
          <p:nvPr/>
        </p:nvSpPr>
        <p:spPr>
          <a:xfrm>
            <a:off x="1402080" y="4047744"/>
            <a:ext cx="10363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33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Minmax penalty will reduce toxic output at least as effectively as KL divergence on the same PPO baseline.</a:t>
            </a:r>
            <a:endParaRPr lang="en-US" sz="1533" dirty="0"/>
          </a:p>
        </p:txBody>
      </p:sp>
      <p:sp>
        <p:nvSpPr>
          <p:cNvPr id="9" name="Shape 7"/>
          <p:cNvSpPr/>
          <p:nvPr/>
        </p:nvSpPr>
        <p:spPr>
          <a:xfrm>
            <a:off x="609600" y="4840224"/>
            <a:ext cx="670560" cy="54864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10" name="Text 8"/>
          <p:cNvSpPr/>
          <p:nvPr/>
        </p:nvSpPr>
        <p:spPr>
          <a:xfrm>
            <a:off x="609600" y="4840224"/>
            <a:ext cx="67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1467" dirty="0"/>
          </a:p>
        </p:txBody>
      </p:sp>
      <p:sp>
        <p:nvSpPr>
          <p:cNvPr id="11" name="Text 9"/>
          <p:cNvSpPr/>
          <p:nvPr/>
        </p:nvSpPr>
        <p:spPr>
          <a:xfrm>
            <a:off x="1402080" y="4864608"/>
            <a:ext cx="10363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33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penalty requires no manual tuning — V_MIN and V_MAX adapt dynamically as the agent explores.</a:t>
            </a:r>
            <a:endParaRPr lang="en-US" sz="1533" dirty="0"/>
          </a:p>
        </p:txBody>
      </p:sp>
      <p:sp>
        <p:nvSpPr>
          <p:cNvPr id="12" name="Shape 10"/>
          <p:cNvSpPr/>
          <p:nvPr/>
        </p:nvSpPr>
        <p:spPr>
          <a:xfrm>
            <a:off x="609600" y="5657088"/>
            <a:ext cx="670560" cy="54864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13" name="Text 11"/>
          <p:cNvSpPr/>
          <p:nvPr/>
        </p:nvSpPr>
        <p:spPr>
          <a:xfrm>
            <a:off x="609600" y="5657088"/>
            <a:ext cx="67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</a:t>
            </a:r>
            <a:endParaRPr lang="en-US" sz="1467" dirty="0"/>
          </a:p>
        </p:txBody>
      </p:sp>
      <p:sp>
        <p:nvSpPr>
          <p:cNvPr id="14" name="Text 12"/>
          <p:cNvSpPr/>
          <p:nvPr/>
        </p:nvSpPr>
        <p:spPr>
          <a:xfrm>
            <a:off x="1402080" y="5681472"/>
            <a:ext cx="10363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33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 classifier rewards (Detoxify) provide a sufficient signal for Algorithm 1's unsafe-state detection.</a:t>
            </a:r>
            <a:endParaRPr lang="en-US" sz="1533" dirty="0"/>
          </a:p>
        </p:txBody>
      </p:sp>
    </p:spTree>
    <p:extLst>
      <p:ext uri="{BB962C8B-B14F-4D97-AF65-F5344CB8AC3E}">
        <p14:creationId xmlns:p14="http://schemas.microsoft.com/office/powerpoint/2010/main" val="21567117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3" name="Text 1"/>
          <p:cNvSpPr/>
          <p:nvPr/>
        </p:nvSpPr>
        <p:spPr>
          <a:xfrm>
            <a:off x="268224" y="6364224"/>
            <a:ext cx="1158240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7" kern="0" spc="267" dirty="0">
                <a:solidFill>
                  <a:srgbClr val="8FA8C8"/>
                </a:solidFill>
              </a:rPr>
              <a:t>4 · PROPOSED APPROACH</a:t>
            </a:r>
            <a:endParaRPr lang="en-US" sz="1067" dirty="0"/>
          </a:p>
        </p:txBody>
      </p:sp>
      <p:sp>
        <p:nvSpPr>
          <p:cNvPr id="4" name="Text 2"/>
          <p:cNvSpPr/>
          <p:nvPr/>
        </p:nvSpPr>
        <p:spPr>
          <a:xfrm>
            <a:off x="390144" y="341376"/>
            <a:ext cx="1146048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experimental design</a:t>
            </a:r>
            <a:endParaRPr lang="en-US" sz="3467" dirty="0"/>
          </a:p>
        </p:txBody>
      </p:sp>
      <p:sp>
        <p:nvSpPr>
          <p:cNvPr id="5" name="Text 3"/>
          <p:cNvSpPr/>
          <p:nvPr/>
        </p:nvSpPr>
        <p:spPr>
          <a:xfrm>
            <a:off x="390144" y="1072896"/>
            <a:ext cx="1146048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+ Minmax penalty applied to LLM detoxification</a:t>
            </a:r>
            <a:endParaRPr lang="en-US" sz="1733" dirty="0"/>
          </a:p>
        </p:txBody>
      </p:sp>
      <p:sp>
        <p:nvSpPr>
          <p:cNvPr id="6" name="Shape 4"/>
          <p:cNvSpPr/>
          <p:nvPr/>
        </p:nvSpPr>
        <p:spPr>
          <a:xfrm>
            <a:off x="390144" y="1645920"/>
            <a:ext cx="2097024" cy="170688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sz="2400"/>
          </a:p>
        </p:txBody>
      </p:sp>
      <p:sp>
        <p:nvSpPr>
          <p:cNvPr id="7" name="Text 5"/>
          <p:cNvSpPr/>
          <p:nvPr/>
        </p:nvSpPr>
        <p:spPr>
          <a:xfrm>
            <a:off x="390144" y="1682496"/>
            <a:ext cx="209702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90144" y="2377440"/>
            <a:ext cx="209702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1267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RealToxicity</a:t>
            </a:r>
            <a:endParaRPr lang="en-US" sz="1267" dirty="0"/>
          </a:p>
          <a:p>
            <a:pPr algn="ctr"/>
            <a:r>
              <a:rPr lang="en-US" sz="1267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</a:t>
            </a:r>
            <a:endParaRPr lang="en-US" sz="1267" dirty="0"/>
          </a:p>
        </p:txBody>
      </p:sp>
      <p:sp>
        <p:nvSpPr>
          <p:cNvPr id="9" name="Shape 7"/>
          <p:cNvSpPr/>
          <p:nvPr/>
        </p:nvSpPr>
        <p:spPr>
          <a:xfrm>
            <a:off x="2487168" y="2499360"/>
            <a:ext cx="182880" cy="0"/>
          </a:xfrm>
          <a:prstGeom prst="line">
            <a:avLst/>
          </a:prstGeom>
          <a:noFill/>
          <a:ln w="25400">
            <a:solidFill>
              <a:srgbClr val="1B3A5C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10" name="Shape 8"/>
          <p:cNvSpPr/>
          <p:nvPr/>
        </p:nvSpPr>
        <p:spPr>
          <a:xfrm>
            <a:off x="2670048" y="1645920"/>
            <a:ext cx="2097024" cy="170688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sz="2400"/>
          </a:p>
        </p:txBody>
      </p:sp>
      <p:sp>
        <p:nvSpPr>
          <p:cNvPr id="11" name="Text 9"/>
          <p:cNvSpPr/>
          <p:nvPr/>
        </p:nvSpPr>
        <p:spPr>
          <a:xfrm>
            <a:off x="2670048" y="1682496"/>
            <a:ext cx="209702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600" dirty="0"/>
          </a:p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70048" y="2377440"/>
            <a:ext cx="209702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1267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 + Critic</a:t>
            </a:r>
            <a:endParaRPr lang="en-US" sz="1267" dirty="0"/>
          </a:p>
          <a:p>
            <a:pPr algn="ctr"/>
            <a:r>
              <a:rPr lang="en-US" sz="1267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heads (nanoGPT)</a:t>
            </a:r>
            <a:endParaRPr lang="en-US" sz="1267" dirty="0"/>
          </a:p>
        </p:txBody>
      </p:sp>
      <p:sp>
        <p:nvSpPr>
          <p:cNvPr id="13" name="Shape 11"/>
          <p:cNvSpPr/>
          <p:nvPr/>
        </p:nvSpPr>
        <p:spPr>
          <a:xfrm>
            <a:off x="4767072" y="2499360"/>
            <a:ext cx="182880" cy="0"/>
          </a:xfrm>
          <a:prstGeom prst="line">
            <a:avLst/>
          </a:prstGeom>
          <a:noFill/>
          <a:ln w="25400">
            <a:solidFill>
              <a:srgbClr val="1B3A5C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14" name="Shape 12"/>
          <p:cNvSpPr/>
          <p:nvPr/>
        </p:nvSpPr>
        <p:spPr>
          <a:xfrm>
            <a:off x="4949952" y="1645920"/>
            <a:ext cx="2097024" cy="170688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sz="2400"/>
          </a:p>
        </p:txBody>
      </p:sp>
      <p:sp>
        <p:nvSpPr>
          <p:cNvPr id="15" name="Text 13"/>
          <p:cNvSpPr/>
          <p:nvPr/>
        </p:nvSpPr>
        <p:spPr>
          <a:xfrm>
            <a:off x="4949952" y="1682496"/>
            <a:ext cx="209702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Wrapper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49952" y="2377440"/>
            <a:ext cx="209702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1267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1</a:t>
            </a:r>
            <a:endParaRPr lang="en-US" sz="1267" dirty="0"/>
          </a:p>
          <a:p>
            <a:pPr algn="ctr"/>
            <a:r>
              <a:rPr lang="en-US" sz="1267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minmax penalty</a:t>
            </a:r>
            <a:endParaRPr lang="en-US" sz="1267" dirty="0"/>
          </a:p>
        </p:txBody>
      </p:sp>
      <p:sp>
        <p:nvSpPr>
          <p:cNvPr id="17" name="Shape 15"/>
          <p:cNvSpPr/>
          <p:nvPr/>
        </p:nvSpPr>
        <p:spPr>
          <a:xfrm>
            <a:off x="7046976" y="2499360"/>
            <a:ext cx="182880" cy="0"/>
          </a:xfrm>
          <a:prstGeom prst="line">
            <a:avLst/>
          </a:prstGeom>
          <a:noFill/>
          <a:ln w="25400">
            <a:solidFill>
              <a:srgbClr val="1B3A5C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18" name="Shape 16"/>
          <p:cNvSpPr/>
          <p:nvPr/>
        </p:nvSpPr>
        <p:spPr>
          <a:xfrm>
            <a:off x="7229856" y="1645920"/>
            <a:ext cx="2097024" cy="170688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sz="2400"/>
          </a:p>
        </p:txBody>
      </p:sp>
      <p:sp>
        <p:nvSpPr>
          <p:cNvPr id="19" name="Text 17"/>
          <p:cNvSpPr/>
          <p:nvPr/>
        </p:nvSpPr>
        <p:spPr>
          <a:xfrm>
            <a:off x="7229856" y="1682496"/>
            <a:ext cx="209702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Detoxify</a:t>
            </a:r>
            <a:endParaRPr lang="en-US" sz="1600" dirty="0"/>
          </a:p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229856" y="2377440"/>
            <a:ext cx="209702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1267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</a:t>
            </a:r>
            <a:endParaRPr lang="en-US" sz="1267" dirty="0"/>
          </a:p>
          <a:p>
            <a:pPr algn="ctr"/>
            <a:r>
              <a:rPr lang="en-US" sz="1267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signal</a:t>
            </a:r>
            <a:endParaRPr lang="en-US" sz="1267" dirty="0"/>
          </a:p>
        </p:txBody>
      </p:sp>
      <p:sp>
        <p:nvSpPr>
          <p:cNvPr id="21" name="Shape 19"/>
          <p:cNvSpPr/>
          <p:nvPr/>
        </p:nvSpPr>
        <p:spPr>
          <a:xfrm>
            <a:off x="9326880" y="2499360"/>
            <a:ext cx="182880" cy="0"/>
          </a:xfrm>
          <a:prstGeom prst="line">
            <a:avLst/>
          </a:prstGeom>
          <a:noFill/>
          <a:ln w="25400">
            <a:solidFill>
              <a:srgbClr val="1B3A5C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22" name="Shape 20"/>
          <p:cNvSpPr/>
          <p:nvPr/>
        </p:nvSpPr>
        <p:spPr>
          <a:xfrm>
            <a:off x="9509760" y="1645920"/>
            <a:ext cx="2097024" cy="170688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sz="2400"/>
          </a:p>
        </p:txBody>
      </p:sp>
      <p:sp>
        <p:nvSpPr>
          <p:cNvPr id="23" name="Text 21"/>
          <p:cNvSpPr/>
          <p:nvPr/>
        </p:nvSpPr>
        <p:spPr>
          <a:xfrm>
            <a:off x="9509760" y="1682496"/>
            <a:ext cx="209702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</a:t>
            </a:r>
            <a:endParaRPr lang="en-US" sz="1600" dirty="0"/>
          </a:p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509760" y="2377440"/>
            <a:ext cx="209702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1267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V_MIN / V_MAX</a:t>
            </a:r>
            <a:endParaRPr lang="en-US" sz="1267" dirty="0"/>
          </a:p>
          <a:p>
            <a:pPr algn="ctr"/>
            <a:r>
              <a:rPr lang="en-US" sz="1267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online</a:t>
            </a:r>
            <a:endParaRPr lang="en-US" sz="1267" dirty="0"/>
          </a:p>
        </p:txBody>
      </p:sp>
      <p:sp>
        <p:nvSpPr>
          <p:cNvPr id="25" name="Shape 23"/>
          <p:cNvSpPr/>
          <p:nvPr/>
        </p:nvSpPr>
        <p:spPr>
          <a:xfrm>
            <a:off x="390144" y="3718560"/>
            <a:ext cx="11411712" cy="877824"/>
          </a:xfrm>
          <a:prstGeom prst="rect">
            <a:avLst/>
          </a:prstGeom>
          <a:solidFill>
            <a:srgbClr val="EFF6FF"/>
          </a:solidFill>
          <a:ln w="6350">
            <a:solidFill>
              <a:srgbClr val="DDE6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sz="2400"/>
          </a:p>
        </p:txBody>
      </p:sp>
      <p:sp>
        <p:nvSpPr>
          <p:cNvPr id="26" name="Shape 24"/>
          <p:cNvSpPr/>
          <p:nvPr/>
        </p:nvSpPr>
        <p:spPr>
          <a:xfrm>
            <a:off x="390144" y="3718560"/>
            <a:ext cx="85344" cy="877824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27" name="Text 25"/>
          <p:cNvSpPr/>
          <p:nvPr/>
        </p:nvSpPr>
        <p:spPr>
          <a:xfrm>
            <a:off x="609600" y="3779520"/>
            <a:ext cx="1097280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decision: the Env Wrapper intercepts the raw reward BEFORE the PPO update — replacing rₜ with </a:t>
            </a:r>
            <a:r>
              <a:rPr lang="en-US" sz="1400" dirty="0" err="1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R_unsafe</a:t>
            </a:r>
            <a:r>
              <a:rPr lang="en-US" sz="1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V_MIN − V_MAX when Detoxify flags unsafe output. PPO's own critic head provides V(s) — no separate value estimator needed.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90144" y="4815840"/>
            <a:ext cx="5608320" cy="17678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sz="2400"/>
          </a:p>
        </p:txBody>
      </p:sp>
      <p:sp>
        <p:nvSpPr>
          <p:cNvPr id="29" name="Shape 27"/>
          <p:cNvSpPr/>
          <p:nvPr/>
        </p:nvSpPr>
        <p:spPr>
          <a:xfrm>
            <a:off x="390144" y="4815840"/>
            <a:ext cx="5608320" cy="390144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30" name="Text 28"/>
          <p:cNvSpPr/>
          <p:nvPr/>
        </p:nvSpPr>
        <p:spPr>
          <a:xfrm>
            <a:off x="536448" y="4815840"/>
            <a:ext cx="5315712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 ·  Toxicity (BeaverTails + HarmBench)</a:t>
            </a:r>
            <a:endParaRPr lang="en-US" sz="1333" dirty="0"/>
          </a:p>
        </p:txBody>
      </p:sp>
      <p:sp>
        <p:nvSpPr>
          <p:cNvPr id="31" name="Text 29"/>
          <p:cNvSpPr/>
          <p:nvPr/>
        </p:nvSpPr>
        <p:spPr>
          <a:xfrm>
            <a:off x="573024" y="5254752"/>
            <a:ext cx="524256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GPT-2 small → improved model (TRL / HuggingFace)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73024" y="5669280"/>
            <a:ext cx="524256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Detoxify classifier as verifiable reward signal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73024" y="6083808"/>
            <a:ext cx="524256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Compare: PPO+KL  vs  PPO+Minmax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291072" y="4815840"/>
            <a:ext cx="5608320" cy="17678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sz="2400"/>
          </a:p>
        </p:txBody>
      </p:sp>
      <p:sp>
        <p:nvSpPr>
          <p:cNvPr id="35" name="Shape 33"/>
          <p:cNvSpPr/>
          <p:nvPr/>
        </p:nvSpPr>
        <p:spPr>
          <a:xfrm>
            <a:off x="6291072" y="4815840"/>
            <a:ext cx="5608320" cy="390144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36" name="Text 34"/>
          <p:cNvSpPr/>
          <p:nvPr/>
        </p:nvSpPr>
        <p:spPr>
          <a:xfrm>
            <a:off x="6437376" y="4815840"/>
            <a:ext cx="5315712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 ·  Factual accuracy (TruthfulQA)</a:t>
            </a:r>
            <a:endParaRPr lang="en-US" sz="1333" dirty="0"/>
          </a:p>
        </p:txBody>
      </p:sp>
      <p:sp>
        <p:nvSpPr>
          <p:cNvPr id="37" name="Text 35"/>
          <p:cNvSpPr/>
          <p:nvPr/>
        </p:nvSpPr>
        <p:spPr>
          <a:xfrm>
            <a:off x="6473952" y="5254752"/>
            <a:ext cx="524256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Exact-match reward (verifiable, binary)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473952" y="5669280"/>
            <a:ext cx="524256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penalty generalisation beyond toxicity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473952" y="6083808"/>
            <a:ext cx="524256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Proof-of-concept: nanoGPT + Q&amp;A env ✓ done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618037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3" name="Text 1"/>
          <p:cNvSpPr/>
          <p:nvPr/>
        </p:nvSpPr>
        <p:spPr>
          <a:xfrm>
            <a:off x="268224" y="6364224"/>
            <a:ext cx="1158240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7" kern="0" spc="267" dirty="0">
                <a:solidFill>
                  <a:srgbClr val="8FA8C8"/>
                </a:solidFill>
              </a:rPr>
              <a:t>5 · PRELIMINARY RESULTS</a:t>
            </a:r>
            <a:endParaRPr lang="en-US" sz="1067" dirty="0"/>
          </a:p>
        </p:txBody>
      </p:sp>
      <p:sp>
        <p:nvSpPr>
          <p:cNvPr id="4" name="Text 2"/>
          <p:cNvSpPr/>
          <p:nvPr/>
        </p:nvSpPr>
        <p:spPr>
          <a:xfrm>
            <a:off x="390144" y="341376"/>
            <a:ext cx="1146048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BeaverTails experiment: 500-step pilot on GPT-2 small</a:t>
            </a:r>
            <a:endParaRPr lang="en-US" sz="3467" dirty="0"/>
          </a:p>
        </p:txBody>
      </p:sp>
      <p:sp>
        <p:nvSpPr>
          <p:cNvPr id="5" name="Text 3"/>
          <p:cNvSpPr/>
          <p:nvPr/>
        </p:nvSpPr>
        <p:spPr>
          <a:xfrm>
            <a:off x="390144" y="1072896"/>
            <a:ext cx="1146048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58.7% relative harm reduction over KL baseline — unsafe state taxonomy confirmed</a:t>
            </a:r>
            <a:endParaRPr lang="en-US" sz="1733" dirty="0"/>
          </a:p>
        </p:txBody>
      </p:sp>
      <p:sp>
        <p:nvSpPr>
          <p:cNvPr id="6" name="Shape 4"/>
          <p:cNvSpPr/>
          <p:nvPr/>
        </p:nvSpPr>
        <p:spPr>
          <a:xfrm>
            <a:off x="390144" y="1584960"/>
            <a:ext cx="365760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sz="2400"/>
          </a:p>
        </p:txBody>
      </p:sp>
      <p:sp>
        <p:nvSpPr>
          <p:cNvPr id="7" name="Shape 5"/>
          <p:cNvSpPr/>
          <p:nvPr/>
        </p:nvSpPr>
        <p:spPr>
          <a:xfrm>
            <a:off x="390144" y="1584960"/>
            <a:ext cx="3657600" cy="8534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8" name="Text 6"/>
          <p:cNvSpPr/>
          <p:nvPr/>
        </p:nvSpPr>
        <p:spPr>
          <a:xfrm>
            <a:off x="536448" y="1670304"/>
            <a:ext cx="3364992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Done</a:t>
            </a:r>
            <a:endParaRPr lang="en-US" sz="1333" dirty="0"/>
          </a:p>
        </p:txBody>
      </p:sp>
      <p:sp>
        <p:nvSpPr>
          <p:cNvPr id="9" name="Text 7"/>
          <p:cNvSpPr/>
          <p:nvPr/>
        </p:nvSpPr>
        <p:spPr>
          <a:xfrm>
            <a:off x="536448" y="2048256"/>
            <a:ext cx="3364992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 rate reduced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36448" y="2511552"/>
            <a:ext cx="3364992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Minmax: 7.14% harmful vs Baseline (KL): 17.29%. 58.7% relative reduction over 500 training steps.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267200" y="1584960"/>
            <a:ext cx="365760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sz="2400"/>
          </a:p>
        </p:txBody>
      </p:sp>
      <p:sp>
        <p:nvSpPr>
          <p:cNvPr id="12" name="Shape 10"/>
          <p:cNvSpPr/>
          <p:nvPr/>
        </p:nvSpPr>
        <p:spPr>
          <a:xfrm>
            <a:off x="4267200" y="1584960"/>
            <a:ext cx="3657600" cy="8534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13" name="Text 11"/>
          <p:cNvSpPr/>
          <p:nvPr/>
        </p:nvSpPr>
        <p:spPr>
          <a:xfrm>
            <a:off x="4413504" y="1670304"/>
            <a:ext cx="3364992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Done</a:t>
            </a:r>
            <a:endParaRPr lang="en-US" sz="1333" dirty="0"/>
          </a:p>
        </p:txBody>
      </p:sp>
      <p:sp>
        <p:nvSpPr>
          <p:cNvPr id="14" name="Text 12"/>
          <p:cNvSpPr/>
          <p:nvPr/>
        </p:nvSpPr>
        <p:spPr>
          <a:xfrm>
            <a:off x="4413504" y="2048256"/>
            <a:ext cx="3364992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Per-category breakdown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413504" y="2511552"/>
            <a:ext cx="3364992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Discrimination: −38pp</a:t>
            </a:r>
            <a:endParaRPr lang="en-US" sz="1400" dirty="0"/>
          </a:p>
          <a:p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Hate speech: −34pp</a:t>
            </a:r>
            <a:endParaRPr lang="en-US" sz="1400" dirty="0"/>
          </a:p>
          <a:p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Self-harm: +10pp (detector gap)</a:t>
            </a:r>
            <a:endParaRPr lang="en-US" sz="1400" dirty="0"/>
          </a:p>
          <a:p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44256" y="1584960"/>
            <a:ext cx="365760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sz="2400"/>
          </a:p>
        </p:txBody>
      </p:sp>
      <p:sp>
        <p:nvSpPr>
          <p:cNvPr id="17" name="Shape 15"/>
          <p:cNvSpPr/>
          <p:nvPr/>
        </p:nvSpPr>
        <p:spPr>
          <a:xfrm>
            <a:off x="8144256" y="1584960"/>
            <a:ext cx="3657600" cy="8534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18" name="Text 16"/>
          <p:cNvSpPr/>
          <p:nvPr/>
        </p:nvSpPr>
        <p:spPr>
          <a:xfrm>
            <a:off x="8290560" y="1670304"/>
            <a:ext cx="3364992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Done</a:t>
            </a:r>
            <a:endParaRPr lang="en-US" sz="1333" dirty="0"/>
          </a:p>
        </p:txBody>
      </p:sp>
      <p:sp>
        <p:nvSpPr>
          <p:cNvPr id="19" name="Text 17"/>
          <p:cNvSpPr/>
          <p:nvPr/>
        </p:nvSpPr>
        <p:spPr>
          <a:xfrm>
            <a:off x="8290560" y="2048256"/>
            <a:ext cx="3364992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 complete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90560" y="2511552"/>
            <a:ext cx="3364992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V_MIN floor fixed, threshold −0.3, penalty clipped to −1.0. Clean runs complete.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90144" y="4511040"/>
            <a:ext cx="11411712" cy="1975104"/>
          </a:xfrm>
          <a:prstGeom prst="rect">
            <a:avLst/>
          </a:prstGeom>
          <a:solidFill>
            <a:srgbClr val="FFF8EE"/>
          </a:solidFill>
          <a:ln w="6350">
            <a:solidFill>
              <a:srgbClr val="DDE6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sz="2400"/>
          </a:p>
        </p:txBody>
      </p:sp>
      <p:sp>
        <p:nvSpPr>
          <p:cNvPr id="22" name="Shape 20"/>
          <p:cNvSpPr/>
          <p:nvPr/>
        </p:nvSpPr>
        <p:spPr>
          <a:xfrm>
            <a:off x="390144" y="4511040"/>
            <a:ext cx="11411712" cy="8534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23" name="Text 21"/>
          <p:cNvSpPr/>
          <p:nvPr/>
        </p:nvSpPr>
        <p:spPr>
          <a:xfrm>
            <a:off x="609600" y="4596384"/>
            <a:ext cx="10972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7C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Current — Month 2: Scale to 1000+ steps, evaluate on HarmBench</a:t>
            </a:r>
            <a:endParaRPr lang="en-US" sz="1467" dirty="0"/>
          </a:p>
        </p:txBody>
      </p:sp>
      <p:sp>
        <p:nvSpPr>
          <p:cNvPr id="24" name="Text 22"/>
          <p:cNvSpPr/>
          <p:nvPr/>
        </p:nvSpPr>
        <p:spPr>
          <a:xfrm>
            <a:off x="609600" y="5023104"/>
            <a:ext cx="1097280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training to 1000+ steps on improved model. Evaluate on BeaverTails-Evaluation (700 prompts) and HarmBench (500+ adversarial behaviors). Per-category analysis across all 14 harm categories.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6948333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ZA" sz="2400"/>
          </a:p>
        </p:txBody>
      </p:sp>
      <p:sp>
        <p:nvSpPr>
          <p:cNvPr id="3" name="Text 1"/>
          <p:cNvSpPr/>
          <p:nvPr/>
        </p:nvSpPr>
        <p:spPr>
          <a:xfrm>
            <a:off x="268224" y="6364224"/>
            <a:ext cx="1158240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7" kern="0" spc="267" dirty="0">
                <a:solidFill>
                  <a:srgbClr val="8FA8C8"/>
                </a:solidFill>
              </a:rPr>
              <a:t>6 · NEXT STEPS</a:t>
            </a:r>
            <a:endParaRPr lang="en-US" sz="1067" dirty="0"/>
          </a:p>
        </p:txBody>
      </p:sp>
      <p:sp>
        <p:nvSpPr>
          <p:cNvPr id="4" name="Text 2"/>
          <p:cNvSpPr/>
          <p:nvPr/>
        </p:nvSpPr>
        <p:spPr>
          <a:xfrm>
            <a:off x="390144" y="341376"/>
            <a:ext cx="1146048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to final presentation</a:t>
            </a:r>
            <a:endParaRPr lang="en-US" sz="3467" dirty="0"/>
          </a:p>
        </p:txBody>
      </p:sp>
      <p:sp>
        <p:nvSpPr>
          <p:cNvPr id="5" name="Text 3"/>
          <p:cNvSpPr/>
          <p:nvPr/>
        </p:nvSpPr>
        <p:spPr>
          <a:xfrm>
            <a:off x="390144" y="1072896"/>
            <a:ext cx="1146048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activities, milestones, and open questions for supervisors</a:t>
            </a:r>
            <a:endParaRPr lang="en-US" sz="1733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8598724"/>
              </p:ext>
            </p:extLst>
          </p:nvPr>
        </p:nvGraphicFramePr>
        <p:xfrm>
          <a:off x="390144" y="1524001"/>
          <a:ext cx="11167872" cy="4697436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08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9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18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Period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4667" marR="84667" marT="84667" marB="84667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4667" marR="84667" marT="84667" marB="84667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Deliverable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4667" marR="84667" marT="84667" marB="84667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66613">
                <a:tc>
                  <a:txBody>
                    <a:bodyPr/>
                    <a:lstStyle/>
                    <a:p>
                      <a:r>
                        <a:rPr sz="2400"/>
                        <a:t>Month 1</a:t>
                      </a:r>
                    </a:p>
                    <a:p>
                      <a:r>
                        <a:rPr sz="2400"/>
                        <a:t>✅ DONE</a:t>
                      </a:r>
                    </a:p>
                  </a:txBody>
                  <a:tcPr marL="84667" marR="84667" marT="84667" marB="84667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/>
                        <a:t>Fixed V_MIN floor, unsafe threshold (−0.3), PPO ratio clip (−1.0). Ran 500-step baseline + Minmax experiments.</a:t>
                      </a:r>
                    </a:p>
                  </a:txBody>
                  <a:tcPr marL="84667" marR="84667" marT="84667" marB="84667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/>
                        <a:t>Clean training logs, model checkpoints, unit tests passing</a:t>
                      </a:r>
                    </a:p>
                  </a:txBody>
                  <a:tcPr marL="84667" marR="84667" marT="84667" marB="84667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32373">
                <a:tc>
                  <a:txBody>
                    <a:bodyPr/>
                    <a:lstStyle/>
                    <a:p>
                      <a:r>
                        <a:rPr sz="2400"/>
                        <a:t>Month 2</a:t>
                      </a:r>
                    </a:p>
                    <a:p>
                      <a:r>
                        <a:rPr sz="2400"/>
                        <a:t>🔄 CURRENT</a:t>
                      </a:r>
                    </a:p>
                  </a:txBody>
                  <a:tcPr marL="84667" marR="84667" marT="84667" marB="84667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/>
                        <a:t>Scale to 1000+ steps on improved model. Evaluate on BeaverTails-Eval (700 prompts, 14 categories) + HarmBench (500+ behaviors).</a:t>
                      </a:r>
                    </a:p>
                  </a:txBody>
                  <a:tcPr marL="84667" marR="84667" marT="84667" marB="84667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/>
                        <a:t>Per-category harm analysis + HarmBench robustness report</a:t>
                      </a:r>
                    </a:p>
                  </a:txBody>
                  <a:tcPr marL="84667" marR="84667" marT="84667" marB="84667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66613">
                <a:tc>
                  <a:txBody>
                    <a:bodyPr/>
                    <a:lstStyle/>
                    <a:p>
                      <a:r>
                        <a:rPr sz="2400" dirty="0"/>
                        <a:t>Month 3</a:t>
                      </a:r>
                    </a:p>
                  </a:txBody>
                  <a:tcPr marL="84667" marR="84667" marT="84667" marB="84667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dirty="0"/>
                        <a:t>Ablation studies (threshold sensitivity). Clarify activation-based detection direction. </a:t>
                      </a:r>
                    </a:p>
                  </a:txBody>
                  <a:tcPr marL="84667" marR="84667" marT="84667" marB="84667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dirty="0"/>
                        <a:t>Ablation curves + activation detection preliminary findings</a:t>
                      </a:r>
                    </a:p>
                  </a:txBody>
                  <a:tcPr marL="84667" marR="84667" marT="84667" marB="84667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67895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AF2D418-84FF-4257-560F-4EDBBCF4FE14}"/>
              </a:ext>
            </a:extLst>
          </p:cNvPr>
          <p:cNvSpPr/>
          <p:nvPr/>
        </p:nvSpPr>
        <p:spPr>
          <a:xfrm>
            <a:off x="508000" y="1016000"/>
            <a:ext cx="914400" cy="127000"/>
          </a:xfrm>
          <a:prstGeom prst="roundRect">
            <a:avLst/>
          </a:prstGeom>
          <a:solidFill>
            <a:srgbClr val="8C775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6F2607-7229-A78F-45ED-B9C4D7998E49}"/>
              </a:ext>
            </a:extLst>
          </p:cNvPr>
          <p:cNvSpPr txBox="1"/>
          <p:nvPr/>
        </p:nvSpPr>
        <p:spPr>
          <a:xfrm>
            <a:off x="508000" y="12700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ZA" sz="1200" b="1">
                <a:solidFill>
                  <a:srgbClr val="6B5A3D"/>
                </a:solidFill>
                <a:latin typeface="Plus Jakarta Sans"/>
              </a:rPr>
              <a:t>PRIOR UPDATE  ·  13 JUNE 2026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301DE8-5EB6-4199-5F1E-37FADF5CC2AB}"/>
              </a:ext>
            </a:extLst>
          </p:cNvPr>
          <p:cNvSpPr txBox="1"/>
          <p:nvPr/>
        </p:nvSpPr>
        <p:spPr>
          <a:xfrm>
            <a:off x="508000" y="1778000"/>
            <a:ext cx="11176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ZA" sz="3600" b="1">
                <a:solidFill>
                  <a:srgbClr val="331B0D"/>
                </a:solidFill>
                <a:latin typeface="Plus Jakarta Sans"/>
              </a:rPr>
              <a:t>Progress update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1CB24B-6669-6E1C-6785-C10DC39A36E4}"/>
              </a:ext>
            </a:extLst>
          </p:cNvPr>
          <p:cNvSpPr txBox="1"/>
          <p:nvPr/>
        </p:nvSpPr>
        <p:spPr>
          <a:xfrm>
            <a:off x="508000" y="2921000"/>
            <a:ext cx="11176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>
                <a:solidFill>
                  <a:srgbClr val="5E4630"/>
                </a:solidFill>
                <a:latin typeface="Plus Jakarta Sans"/>
              </a:rPr>
              <a:t>GPT-2 runs and the blocked path into the real Safe RLHF codebase.</a:t>
            </a:r>
            <a:endParaRPr lang="en-ZA" sz="1400">
              <a:solidFill>
                <a:srgbClr val="5E4630"/>
              </a:solidFill>
              <a:latin typeface="Plus Jakarta Sans"/>
            </a:endParaRPr>
          </a:p>
        </p:txBody>
      </p:sp>
    </p:spTree>
    <p:extLst>
      <p:ext uri="{BB962C8B-B14F-4D97-AF65-F5344CB8AC3E}">
        <p14:creationId xmlns:p14="http://schemas.microsoft.com/office/powerpoint/2010/main" val="10068279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4114800" cy="4114800"/>
          </a:xfrm>
          <a:prstGeom prst="ellipse">
            <a:avLst/>
          </a:prstGeom>
          <a:solidFill>
            <a:srgbClr val="2A3A7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10972800" y="548640"/>
            <a:ext cx="2377440" cy="2377440"/>
          </a:xfrm>
          <a:prstGeom prst="ellipse">
            <a:avLst/>
          </a:prstGeom>
          <a:solidFill>
            <a:srgbClr val="F2994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RLHF Safety Alignment — Progress Update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PPO with Minmax Safety Penalties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25146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Implementation, GPT-2 experiments, and limitations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57607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Wendy Maboa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the Witwatersrand · RAIL Laboratory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are we testing?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64008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safe RLHF uses PPO + a KL divergence penalty to keep the policy close to a reference model.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implement Algorithm 1: the ROSARL Minmax penalty as an alternative safety mechanism, replacing the KL penalty and any learned cost model.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question: does the Minmax penalty reduce harmful generations relative to a KL-only PPO baseline, on the same data and evaluation?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0" y="1417320"/>
            <a:ext cx="4297680" cy="4206240"/>
          </a:xfrm>
          <a:prstGeom prst="roundRect">
            <a:avLst>
              <a:gd name="adj" fmla="val 1739"/>
            </a:avLst>
          </a:prstGeom>
          <a:solidFill>
            <a:srgbClr val="F4F6FC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7589520" y="17373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Experimental setup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589520" y="246888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</a:t>
            </a:r>
            <a:endParaRPr lang="en-US" sz="1400" dirty="0"/>
          </a:p>
          <a:p>
            <a:pPr marL="0" indent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BeaverTails (train split, 27,186 prompts)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400" dirty="0"/>
          </a:p>
          <a:p>
            <a:pPr marL="0" indent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BeaverTails-Evaluation (700 prompts) — shared with Safe RLHF / HC-RLHF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 metric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Detoxify toxicity classifier; harm = toxicity score &gt; 0.3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 since last update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627632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150876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1 (Minmax penalty) implemented in the training code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9601200" y="150876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2185416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304288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0160" y="2185416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GPT-2 500-step pilot (local PC, TRL + Detoxify) — trained and evaluated on BeaverTails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9601200" y="2185416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48640" y="2862072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980944"/>
            <a:ext cx="329184" cy="32918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80160" y="286207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GPT-2 1000-step run (Colab, TRL + Detoxify) — trained and evaluated locally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9601200" y="2862072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548640" y="3538728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657600"/>
            <a:ext cx="329184" cy="32918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80160" y="353872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pipeline and comparison plots built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9601200" y="3538728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548640" y="4215384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BEFEA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334256"/>
            <a:ext cx="329184" cy="32918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280160" y="4215384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1.8B 1000-step run (Colab)</a:t>
            </a:r>
            <a:endParaRPr lang="en-US" sz="1500" dirty="0"/>
          </a:p>
        </p:txBody>
      </p:sp>
      <p:sp>
        <p:nvSpPr>
          <p:cNvPr id="22" name="Text 15"/>
          <p:cNvSpPr/>
          <p:nvPr/>
        </p:nvSpPr>
        <p:spPr>
          <a:xfrm>
            <a:off x="9601200" y="4215384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interrupted at ~4 steps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548640" y="489204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BEFEA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010912"/>
            <a:ext cx="329184" cy="329184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280160" y="489204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Gemma-2B 1000-step run (PKU safe-rlhf + DeepSpeed)</a:t>
            </a:r>
            <a:endParaRPr lang="en-US" sz="1500" dirty="0"/>
          </a:p>
        </p:txBody>
      </p:sp>
      <p:sp>
        <p:nvSpPr>
          <p:cNvPr id="26" name="Text 18"/>
          <p:cNvSpPr/>
          <p:nvPr/>
        </p:nvSpPr>
        <p:spPr>
          <a:xfrm>
            <a:off x="9601200" y="489204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at startup</a:t>
            </a:r>
            <a:endParaRPr lang="en-US" sz="1200" dirty="0"/>
          </a:p>
        </p:txBody>
      </p:sp>
      <p:sp>
        <p:nvSpPr>
          <p:cNvPr id="27" name="Shape 19"/>
          <p:cNvSpPr/>
          <p:nvPr/>
        </p:nvSpPr>
        <p:spPr>
          <a:xfrm>
            <a:off x="548640" y="5568696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BEFEA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687568"/>
            <a:ext cx="329184" cy="329184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280160" y="5568696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 comparison (GPT-2 / Qwen / Gemma)</a:t>
            </a:r>
            <a:endParaRPr lang="en-US" sz="1500" dirty="0"/>
          </a:p>
        </p:txBody>
      </p:sp>
      <p:sp>
        <p:nvSpPr>
          <p:cNvPr id="30" name="Text 21"/>
          <p:cNvSpPr/>
          <p:nvPr/>
        </p:nvSpPr>
        <p:spPr>
          <a:xfrm>
            <a:off x="9601200" y="5568696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by GPU + infra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training pipelines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1E2761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4" name="Shape 2"/>
          <p:cNvSpPr/>
          <p:nvPr/>
        </p:nvSpPr>
        <p:spPr>
          <a:xfrm>
            <a:off x="868680" y="1737360"/>
            <a:ext cx="548640" cy="548640"/>
          </a:xfrm>
          <a:prstGeom prst="ellipse">
            <a:avLst/>
          </a:prstGeom>
          <a:solidFill>
            <a:srgbClr val="F2994A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184708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6916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A — Lightweight pilot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600200" y="2148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all reported GPT-2 results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14400" y="2697480"/>
            <a:ext cx="4754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Framework: HuggingFace TRL PPOTrainer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Reward: Detoxify (negated toxicity score)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GPT-2 small, full fine-tune (LoRA planned for larger models)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Runs: 500 steps (local)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263640" y="141732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F4F6FC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0" name="Shape 7"/>
          <p:cNvSpPr/>
          <p:nvPr/>
        </p:nvSpPr>
        <p:spPr>
          <a:xfrm>
            <a:off x="6583680" y="1737360"/>
            <a:ext cx="548640" cy="548640"/>
          </a:xfrm>
          <a:prstGeom prst="ellipse">
            <a:avLst/>
          </a:prstGeom>
          <a:solidFill>
            <a:srgbClr val="5B7FB9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08" y="184708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169164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B — Safe RLHF reference codebase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7315200" y="21488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Thesis-aligned, not yet working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629400" y="2697480"/>
            <a:ext cx="4754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Framework: PKU-Alignment safe-rlhf codebase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DeepSpeed, PKU reward model + critic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for: Gemma-2B, Qwen 1.8B at 1000 steps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environment failures on Colab; not used for any reported numbers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548640" y="5806440"/>
            <a:ext cx="11109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</a:t>
            </a: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reported GPT-2 harm rates come from Pipeline A. They are comparable across our own runs, but not directly comparable to published PKU-SafeRLHF paper numbers without aligning the reward model.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 proof-of-concept (500 steps)</a:t>
            </a:r>
            <a:endParaRPr lang="en-US" sz="32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371600"/>
          <a:ext cx="60350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6858000" y="1371600"/>
            <a:ext cx="4800600" cy="4206240"/>
          </a:xfrm>
          <a:prstGeom prst="roundRect">
            <a:avLst>
              <a:gd name="adj" fmla="val 1739"/>
            </a:avLst>
          </a:prstGeom>
          <a:solidFill>
            <a:srgbClr val="1E2761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5" name="Text 2"/>
          <p:cNvSpPr/>
          <p:nvPr/>
        </p:nvSpPr>
        <p:spPr>
          <a:xfrm>
            <a:off x="6858000" y="1737360"/>
            <a:ext cx="4800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58.7%</a:t>
            </a:r>
            <a:endParaRPr lang="en-US" sz="6400" dirty="0"/>
          </a:p>
        </p:txBody>
      </p:sp>
      <p:sp>
        <p:nvSpPr>
          <p:cNvPr id="6" name="Text 3"/>
          <p:cNvSpPr/>
          <p:nvPr/>
        </p:nvSpPr>
        <p:spPr>
          <a:xfrm>
            <a:off x="6858000" y="288036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reduction in harm rate</a:t>
            </a:r>
            <a:endParaRPr lang="en-US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78040" y="3520440"/>
          <a:ext cx="4160520" cy="13716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3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Harm rate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3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3A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PPO + KL (baseline)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3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17.29%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3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121 / 700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3A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PPO + Minmax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3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29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3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29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/ 700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3A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Longer training — mixed outcome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GPT-2, 1000-step run (Colab)</a:t>
            </a:r>
            <a:endParaRPr lang="en-US" sz="15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91640"/>
          <a:ext cx="548640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355080" y="1691640"/>
            <a:ext cx="5303520" cy="3886200"/>
          </a:xfrm>
          <a:prstGeom prst="roundRect">
            <a:avLst>
              <a:gd name="adj" fmla="val 1882"/>
            </a:avLst>
          </a:prstGeom>
          <a:solidFill>
            <a:srgbClr val="FBEFEA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1920240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132320" y="1901952"/>
            <a:ext cx="4343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1000 steps, the Minmax penalty did not beat the baseline on this run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6629400" y="2697480"/>
            <a:ext cx="4846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reward stayed near zero; KL grew moderately (~5–6)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Minmax: V_MIN drifted to approximately −24 by the end of training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 spiked sharply (up to ~68) — sign of instability / hyperparameter sensitivity at longer horizons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does harm come from?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Category-level breakdown — GPT-2, 1000-step run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7607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BeaverTails-Evaluation covers 14 harm categories (50 prompts each)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baseline categories at 1000 steps: sexually explicit, discrimination, hate speech, animal abuse — roughly 36–48%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Minmax penalty did not consistently win across all categories at 1000 steps — consistent with the instability seen in training dynamics on the previous slide</a:t>
            </a:r>
            <a:endParaRPr lang="en-US" sz="1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0" y="2194560"/>
            <a:ext cx="640080" cy="6400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D6E1115-3AFC-8160-47B9-14F9782E7E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2523085"/>
            <a:ext cx="5073124" cy="181183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interpretation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486400" cy="4846320"/>
          </a:xfrm>
          <a:prstGeom prst="roundRect">
            <a:avLst>
              <a:gd name="adj" fmla="val 1509"/>
            </a:avLst>
          </a:prstGeom>
          <a:solidFill>
            <a:srgbClr val="EAF7EE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69164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67335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claim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868680" y="233172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1 is implemented end-to-end: train → checkpoint → BeaverTails eval → plots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500-step GPT-2: clear safety improvement on a standard benchmark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for reproducible evaluation built locally (in the evaluation scripts)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263640" y="1417320"/>
            <a:ext cx="5394960" cy="4846320"/>
          </a:xfrm>
          <a:prstGeom prst="roundRect">
            <a:avLst>
              <a:gd name="adj" fmla="val 1509"/>
            </a:avLst>
          </a:prstGeom>
          <a:solidFill>
            <a:srgbClr val="FBEFEA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1691640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132320" y="167335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Cannot claim yet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6583680" y="2331720"/>
            <a:ext cx="48920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improvement at 1000+ steps without further tuning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on Qwen 1.8B or Gemma-2B (runs incomplete)</a:t>
            </a:r>
            <a:endParaRPr lang="en-US" sz="14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 constraints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457200" cy="457200"/>
          </a:xfrm>
          <a:prstGeom prst="ellipse">
            <a:avLst/>
          </a:prstGeom>
          <a:solidFill>
            <a:srgbClr val="F2994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88720" y="1463040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 free-tier GPU quota exhausted — cannot continue multi-model 1000-step sweeps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350008"/>
            <a:ext cx="457200" cy="457200"/>
          </a:xfrm>
          <a:prstGeom prst="ellipse">
            <a:avLst/>
          </a:prstGeom>
          <a:solidFill>
            <a:srgbClr val="F2994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/>
          <p:nvPr/>
        </p:nvSpPr>
        <p:spPr>
          <a:xfrm>
            <a:off x="548640" y="2350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2304288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 GPU (16GB): small batch sizes; long runs risk session disconnect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191256"/>
            <a:ext cx="457200" cy="457200"/>
          </a:xfrm>
          <a:prstGeom prst="ellipse">
            <a:avLst/>
          </a:prstGeom>
          <a:solidFill>
            <a:srgbClr val="F2994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0" name="Text 8"/>
          <p:cNvSpPr/>
          <p:nvPr/>
        </p:nvSpPr>
        <p:spPr>
          <a:xfrm>
            <a:off x="548640" y="3191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3145536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issues: first download contained model weights only — training_log.csv had to be retrieved separately from Drive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032504"/>
            <a:ext cx="457200" cy="457200"/>
          </a:xfrm>
          <a:prstGeom prst="ellipse">
            <a:avLst/>
          </a:prstGeom>
          <a:solidFill>
            <a:srgbClr val="F2994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3" name="Text 11"/>
          <p:cNvSpPr/>
          <p:nvPr/>
        </p:nvSpPr>
        <p:spPr>
          <a:xfrm>
            <a:off x="548640" y="40325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3986784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laptop GPU  is insufficient for training; used only for offline evaluation on a CUDA machine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48737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5806440"/>
            <a:ext cx="11109960" cy="713232"/>
          </a:xfrm>
          <a:prstGeom prst="roundRect">
            <a:avLst>
              <a:gd name="adj" fmla="val 10256"/>
            </a:avLst>
          </a:prstGeom>
          <a:solidFill>
            <a:srgbClr val="2A3A7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9" name="Text 17"/>
          <p:cNvSpPr/>
          <p:nvPr/>
        </p:nvSpPr>
        <p:spPr>
          <a:xfrm>
            <a:off x="822960" y="5806440"/>
            <a:ext cx="10607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attempted: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checkpoints to Google Drive; run BeaverTails evaluation locally after Colab quota ended.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 RLHF codebase integration challenges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" name="Shape 2"/>
          <p:cNvSpPr/>
          <p:nvPr/>
        </p:nvSpPr>
        <p:spPr>
          <a:xfrm>
            <a:off x="777240" y="1700784"/>
            <a:ext cx="457200" cy="457200"/>
          </a:xfrm>
          <a:prstGeom prst="ellipse">
            <a:avLst/>
          </a:prstGeom>
          <a:solidFill>
            <a:srgbClr val="5B7FB9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777240" y="17007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17320" y="1508760"/>
            <a:ext cx="10058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DeepSpeed required: the Gemma-2B run crashed at launch (IndentationError inside DeepSpeed on Colab Python 3.12)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" name="Shape 6"/>
          <p:cNvSpPr/>
          <p:nvPr/>
        </p:nvSpPr>
        <p:spPr>
          <a:xfrm>
            <a:off x="777240" y="2615184"/>
            <a:ext cx="457200" cy="457200"/>
          </a:xfrm>
          <a:prstGeom prst="ellipse">
            <a:avLst/>
          </a:prstGeom>
          <a:solidFill>
            <a:srgbClr val="5B7FB9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9" name="Text 7"/>
          <p:cNvSpPr/>
          <p:nvPr/>
        </p:nvSpPr>
        <p:spPr>
          <a:xfrm>
            <a:off x="777240" y="26151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17320" y="2423160"/>
            <a:ext cx="10058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dependency stack: reward model, critic, ZeRO — much harder to debug than the lightweight TRL pilot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33756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2" name="Shape 10"/>
          <p:cNvSpPr/>
          <p:nvPr/>
        </p:nvSpPr>
        <p:spPr>
          <a:xfrm>
            <a:off x="777240" y="3529584"/>
            <a:ext cx="457200" cy="457200"/>
          </a:xfrm>
          <a:prstGeom prst="ellipse">
            <a:avLst/>
          </a:prstGeom>
          <a:solidFill>
            <a:srgbClr val="5B7FB9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3" name="Text 11"/>
          <p:cNvSpPr/>
          <p:nvPr/>
        </p:nvSpPr>
        <p:spPr>
          <a:xfrm>
            <a:off x="777240" y="35295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17320" y="3337560"/>
            <a:ext cx="10058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fragility: PyTorch / DeepSpeed / transformers mismatches break runs silently or at import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25196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6" name="Shape 14"/>
          <p:cNvSpPr/>
          <p:nvPr/>
        </p:nvSpPr>
        <p:spPr>
          <a:xfrm>
            <a:off x="777240" y="4443984"/>
            <a:ext cx="457200" cy="457200"/>
          </a:xfrm>
          <a:prstGeom prst="ellipse">
            <a:avLst/>
          </a:prstGeom>
          <a:solidFill>
            <a:srgbClr val="5B7FB9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7" name="Text 15"/>
          <p:cNvSpPr/>
          <p:nvPr/>
        </p:nvSpPr>
        <p:spPr>
          <a:xfrm>
            <a:off x="777240" y="44439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4251960"/>
            <a:ext cx="10058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1.8B: training interrupted at step 4 (session / quota) — no usable final checkpoint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516636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0" name="Shape 18"/>
          <p:cNvSpPr/>
          <p:nvPr/>
        </p:nvSpPr>
        <p:spPr>
          <a:xfrm>
            <a:off x="777240" y="5463540"/>
            <a:ext cx="457200" cy="457200"/>
          </a:xfrm>
          <a:prstGeom prst="ellipse">
            <a:avLst/>
          </a:prstGeom>
          <a:solidFill>
            <a:srgbClr val="5B7FB9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1" name="Text 19"/>
          <p:cNvSpPr/>
          <p:nvPr/>
        </p:nvSpPr>
        <p:spPr>
          <a:xfrm>
            <a:off x="777240" y="54635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17320" y="5166360"/>
            <a:ext cx="10058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pipelines: the Colab notebook (Detoxify + TRL) is not the same setup as the published Safe RLHF reference (learned reward + cost models)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2034</Words>
  <Application>Microsoft Office PowerPoint</Application>
  <PresentationFormat>Widescreen</PresentationFormat>
  <Paragraphs>233</Paragraphs>
  <Slides>19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Cambria</vt:lpstr>
      <vt:lpstr>Plus Jakarta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 Update: PPO with Minmax Safety Penalties on GPT-2</dc:title>
  <dc:subject>PptxGenJS Presentation</dc:subject>
  <dc:creator>Wendy Maboa</dc:creator>
  <cp:lastModifiedBy>Wiendy Maboa</cp:lastModifiedBy>
  <cp:revision>3</cp:revision>
  <dcterms:created xsi:type="dcterms:W3CDTF">2026-06-13T13:22:59Z</dcterms:created>
  <dcterms:modified xsi:type="dcterms:W3CDTF">2026-09-07T23:35:12Z</dcterms:modified>
</cp:coreProperties>
</file>