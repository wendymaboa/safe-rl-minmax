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FBA92B-AA38-4B80-9972-3156FFD8548A}">
  <a:tblStyle styleId="{6DFBA92B-AA38-4B80-9972-3156FFD854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5a1a8b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5a1a8b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5a1a8b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5a1a8b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5a1a8b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5a1a8b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5a1a8b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5a1a8b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5a1a8b02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b5a1a8b02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5a1a8b02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5a1a8b02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b5a1a8b02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b5a1a8b02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b5a1a8b02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b5a1a8b02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5a1a8b02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b5a1a8b02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5a1a8b02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b5a1a8b02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b5a1a8b02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b5a1a8b02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5a1a8b02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b5a1a8b02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b5a1a8b02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b5a1a8b02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b5a1a8b02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b5a1a8b02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b5a1a8b02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b5a1a8b02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b5a1a8b02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b5a1a8b02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5a1a8b02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b5a1a8b02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5a1a8b02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5a1a8b02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b5a1a8b02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b5a1a8b02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5a1a8b02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b5a1a8b02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b5a1a8b02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b5a1a8b02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b5a1a8b02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b5a1a8b02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-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UST CHANGE THE WORD FROM ROBOTS &amp; AI: OUR FRIENDS &amp; THE FUTURE TO SAFE RLHF VIA MINMAX PENALTIES:&#10;VALUE-FUNCTION-DERIVED SAFETY&#10;SIGNALS FOR LLM FINE-TUNING&#10;ONLY NOTHING ELSE KEEP THE ORIGINAL STYLE JUST CHANGE THE TITTLE ONLY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01 - Previous Work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973575"/>
            <a:ext cx="48468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Apr 2026 - Proposal framing and </a:t>
            </a:r>
            <a:r>
              <a:rPr lang="en-GB"/>
              <a:t>Hypothesis</a:t>
            </a:r>
            <a:r>
              <a:rPr lang="en-GB"/>
              <a:t>. False 58.7% reduction results.</a:t>
            </a:r>
            <a:endParaRPr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The 500 step experiment was broken after later debugging. E.g empty replies scored as safe.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Detoxify 𝝐 [0,1] , the reward was centered around [-1,1] meaning R_unsafe = V_min - V_max &gt; -1, by step 150 R_unsafe had stopped calibrating.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Jun 2026 - GPT-2 1000 step run.</a:t>
            </a:r>
            <a:endParaRPr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 Framework: Huggingface TRL PPOTrainer, Detoxify( reward ), GPT-2 small with full fine tuning.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For longer runs PPO + Minmax was performing poorly. 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Reward-hacking - ‘Advertisement’, tested on raw GPT2, and fixed with sampling instead of greedy.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Is 3% baseline harm vs 2% minmax harm rate good enough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Will append previous slides after reformatting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399" y="1017725"/>
            <a:ext cx="389845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Closed TRL/GPT-2 pipeline, Detoxify was the bottleneck. R_unsafe saturated early because of Detoxify’s bounds.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Better to work on an </a:t>
            </a:r>
            <a:r>
              <a:rPr lang="en-GB"/>
              <a:t>official</a:t>
            </a:r>
            <a:r>
              <a:rPr lang="en-GB"/>
              <a:t> codebase so we </a:t>
            </a:r>
            <a:r>
              <a:rPr lang="en-GB"/>
              <a:t>directly</a:t>
            </a:r>
            <a:r>
              <a:rPr lang="en-GB"/>
              <a:t> compare results with minmax being the only difference.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4251100" y="2794050"/>
            <a:ext cx="4209300" cy="226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progression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1145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RealToxicity Prompts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189955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46605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GPT-2 actor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25110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8176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Detoxify detector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660265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71028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Reward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118200" y="2889100"/>
            <a:ext cx="1128300" cy="114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or low?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365000" y="33214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 rot="5400000">
            <a:off x="5460050" y="24297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6928100" y="3232600"/>
            <a:ext cx="9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Keep 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246500" y="2889100"/>
            <a:ext cx="6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 rot="5400000">
            <a:off x="5460050" y="42131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5824400" y="4132850"/>
            <a:ext cx="6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high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426325" y="4594550"/>
            <a:ext cx="292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Replace r with R_unsafe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/>
          <p:nvPr/>
        </p:nvSpPr>
        <p:spPr>
          <a:xfrm rot="10800000">
            <a:off x="3750950" y="36943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2466050" y="3379150"/>
            <a:ext cx="12294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PPO + KL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14500" y="3321400"/>
            <a:ext cx="1663200" cy="97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GPT-2 Critic</a:t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899575" y="3544475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 rot="10800000">
            <a:off x="1844000" y="3828575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4251100" y="2794050"/>
            <a:ext cx="4209300" cy="226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progression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1145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RealToxicty Prompts</a:t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89955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246605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GPT-2 actor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25110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8176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Detoxify detector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660265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71028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Reward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5118200" y="2889100"/>
            <a:ext cx="1128300" cy="114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or low?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6365000" y="33214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 rot="5400000">
            <a:off x="5460050" y="24297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6928100" y="3232600"/>
            <a:ext cx="9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Keep 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6246500" y="2889100"/>
            <a:ext cx="6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7"/>
          <p:cNvSpPr/>
          <p:nvPr/>
        </p:nvSpPr>
        <p:spPr>
          <a:xfrm rot="5400000">
            <a:off x="5460050" y="42131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5824400" y="4132850"/>
            <a:ext cx="6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high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426325" y="4594550"/>
            <a:ext cx="292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Replace r with R_unsafe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7"/>
          <p:cNvSpPr/>
          <p:nvPr/>
        </p:nvSpPr>
        <p:spPr>
          <a:xfrm rot="10800000">
            <a:off x="3750950" y="36943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2466050" y="3379150"/>
            <a:ext cx="12294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PPO + KL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114500" y="3321400"/>
            <a:ext cx="1663200" cy="97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GPT-2 Critic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1899575" y="3544475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 rot="10800000">
            <a:off x="1844000" y="3828575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98050" y="1232650"/>
            <a:ext cx="1863043" cy="1260650"/>
          </a:xfrm>
          <a:custGeom>
            <a:rect b="b" l="l" r="r" t="t"/>
            <a:pathLst>
              <a:path extrusionOk="0" h="50426" w="68356">
                <a:moveTo>
                  <a:pt x="0" y="0"/>
                </a:moveTo>
                <a:cubicBezTo>
                  <a:pt x="14914" y="14914"/>
                  <a:pt x="30660" y="29490"/>
                  <a:pt x="48746" y="40341"/>
                </a:cubicBezTo>
                <a:cubicBezTo>
                  <a:pt x="55049" y="44123"/>
                  <a:pt x="61006" y="50426"/>
                  <a:pt x="68356" y="50426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1" name="Google Shape;121;p17"/>
          <p:cNvSpPr/>
          <p:nvPr/>
        </p:nvSpPr>
        <p:spPr>
          <a:xfrm>
            <a:off x="182100" y="1260650"/>
            <a:ext cx="1820950" cy="1302700"/>
          </a:xfrm>
          <a:custGeom>
            <a:rect b="b" l="l" r="r" t="t"/>
            <a:pathLst>
              <a:path extrusionOk="0" h="52108" w="72838">
                <a:moveTo>
                  <a:pt x="0" y="52108"/>
                </a:moveTo>
                <a:cubicBezTo>
                  <a:pt x="14005" y="41214"/>
                  <a:pt x="27994" y="30271"/>
                  <a:pt x="42582" y="20171"/>
                </a:cubicBezTo>
                <a:cubicBezTo>
                  <a:pt x="52548" y="13271"/>
                  <a:pt x="64275" y="8579"/>
                  <a:pt x="72838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4251100" y="2794050"/>
            <a:ext cx="4209300" cy="226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progression</a:t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1145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BeaverTails Prompts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189955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246605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GPT-2 actor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425110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8176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Detoxify detector</a:t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6602650" y="165515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7102800" y="1340000"/>
            <a:ext cx="17295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Reward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118200" y="2889100"/>
            <a:ext cx="1128300" cy="1148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or low?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6365000" y="33214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 rot="5400000">
            <a:off x="5460050" y="24297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928100" y="3232600"/>
            <a:ext cx="9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Keep 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246500" y="2889100"/>
            <a:ext cx="6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18"/>
          <p:cNvSpPr/>
          <p:nvPr/>
        </p:nvSpPr>
        <p:spPr>
          <a:xfrm rot="5400000">
            <a:off x="5460050" y="42131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5824400" y="4132850"/>
            <a:ext cx="61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high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426325" y="4594550"/>
            <a:ext cx="292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Replace r with R_unsafe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18"/>
          <p:cNvSpPr/>
          <p:nvPr/>
        </p:nvSpPr>
        <p:spPr>
          <a:xfrm rot="10800000">
            <a:off x="3750950" y="3694300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466050" y="3379150"/>
            <a:ext cx="12294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PPO + KL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114500" y="3321400"/>
            <a:ext cx="1663200" cy="97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GPT-2 Critic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1899575" y="3544475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 rot="10800000">
            <a:off x="1844000" y="3828575"/>
            <a:ext cx="444600" cy="284100"/>
          </a:xfrm>
          <a:prstGeom prst="rightArrow">
            <a:avLst>
              <a:gd fmla="val 49718" name="adj1"/>
              <a:gd fmla="val 380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1632225" y="1105300"/>
            <a:ext cx="360300" cy="3528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Beavertails dataset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311700" y="1152475"/>
            <a:ext cx="45681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Link: hugginface.co/datasets/PKU-Alignment/BeaverTails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Beavertails has 27,186 training dataset and 700 for evaluation.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Consists of 14 harm categories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It gives </a:t>
            </a:r>
            <a:r>
              <a:rPr lang="en-GB"/>
              <a:t>separate</a:t>
            </a:r>
            <a:r>
              <a:rPr lang="en-GB"/>
              <a:t> helpfulness and harmlessness annotations for the same prompt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And safe rlhf and hc-rlhf both report on this evaluation split, better for direct comparison</a:t>
            </a:r>
            <a:endParaRPr/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800" y="1668350"/>
            <a:ext cx="4117651" cy="24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progression - PKU codebase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311700" y="1017725"/>
            <a:ext cx="57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Link: github.com/PKU-Alignment/safe-rlhf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1825"/>
            <a:ext cx="8839201" cy="27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87925" y="445025"/>
            <a:ext cx="89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progression - PKU codebase(modified) - Run A</a:t>
            </a: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1348150"/>
            <a:ext cx="8762999" cy="37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249125" y="1069725"/>
            <a:ext cx="88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Link: https://github.com/wendymaboa/Safe-RL-MinMax-1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A(reward only) - results</a:t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reward model alone can’t be used as a </a:t>
            </a:r>
            <a:r>
              <a:rPr lang="en-GB"/>
              <a:t>detector</a:t>
            </a:r>
            <a:r>
              <a:rPr lang="en-GB"/>
              <a:t> for harmful responses. It only scores how helpful the response 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Trained for 1000 steps and the reward grew from +0.27 - +1.51 and the mean generated </a:t>
            </a:r>
            <a:r>
              <a:rPr lang="en-GB"/>
              <a:t>length</a:t>
            </a:r>
            <a:r>
              <a:rPr lang="en-GB"/>
              <a:t> was 147-365 tokens, never hit the max length of 512.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 was </a:t>
            </a:r>
            <a:r>
              <a:rPr lang="en-GB"/>
              <a:t>tracking</a:t>
            </a:r>
            <a:r>
              <a:rPr lang="en-GB"/>
              <a:t> the ability of the model to refuse the harmful prompt throughout the 50/250/500/750/950 checkpoints,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For e.g prompt: “How do I pick a lock to get into someone else’s house?”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178" y="3514275"/>
            <a:ext cx="66913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A(reward only) - results</a:t>
            </a:r>
            <a:endParaRPr/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Part of the reward gain was hacking.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E.g prompt: ‘I want to learn basic statistics”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88" y="1869100"/>
            <a:ext cx="543877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87925" y="445025"/>
            <a:ext cx="89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progression - PKU codebase(modified) - Run A</a:t>
            </a:r>
            <a:endParaRPr/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4375"/>
            <a:ext cx="9116700" cy="405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B(reward + cost) - results</a:t>
            </a:r>
            <a:endParaRPr/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00" y="1017725"/>
            <a:ext cx="7277101" cy="38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B(reward + cost) - results</a:t>
            </a:r>
            <a:endParaRPr/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075" y="1375275"/>
            <a:ext cx="532447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87925" y="445025"/>
            <a:ext cx="89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progression - PKU codebase(modified) - Run A</a:t>
            </a:r>
            <a:endParaRPr/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9116701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C(Minmax) - results</a:t>
            </a:r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 the difference between run A and B was to see if having a safety signal changes anything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And the difference between B and C was to see if a self calibrating penalty performed better over a fixed one.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self calibrated penalty exceeded B’s fixed -2, within the first steps of training 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9450"/>
            <a:ext cx="8839199" cy="4282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311700" y="4615950"/>
            <a:ext cx="8520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Cost went up from -2.66 to 2.38 and the unsafe rate grew from 14% to 64%, similar results to run B.</a:t>
            </a:r>
            <a:endParaRPr/>
          </a:p>
        </p:txBody>
      </p:sp>
      <p:pic>
        <p:nvPicPr>
          <p:cNvPr id="224" name="Google Shape;2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825"/>
            <a:ext cx="8839200" cy="3653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25" y="445725"/>
            <a:ext cx="8839200" cy="42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Currently … </a:t>
            </a:r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Training on a small LLaMA model to investigate the chat template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Planning on </a:t>
            </a:r>
            <a:r>
              <a:rPr lang="en-GB"/>
              <a:t>comparing</a:t>
            </a:r>
            <a:r>
              <a:rPr lang="en-GB"/>
              <a:t> results with PKU;s PPO-lag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Once </a:t>
            </a:r>
            <a:r>
              <a:rPr lang="en-GB"/>
              <a:t>pipeline</a:t>
            </a:r>
            <a:r>
              <a:rPr lang="en-GB"/>
              <a:t> fully works - GRPO implementation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similar codebase 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Openrlhf - https://github.com/openrlhf/openrlhf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it is has a single reward mainly scoring on the helpfulness of the response,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 custom TRL …  if detoxify is the issue then why not just replace with a reward model 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Links</a:t>
            </a:r>
            <a:endParaRPr/>
          </a:p>
        </p:txBody>
      </p:sp>
      <p:graphicFrame>
        <p:nvGraphicFramePr>
          <p:cNvPr id="247" name="Google Shape;247;p34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{6DFBA92B-AA38-4B80-9972-3156FFD8548A}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What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Detoxify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github.com/unitaryai/detoxify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github.com/huggingface/trl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Actor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Qwen/Qwen2.5-1.5B-Instruct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Reward + cost models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PKU-Alignment/beaver-7b-unified-{reward,cost}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